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นำเสนอ ณ วันที่ 7 ตุลาคม 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362895" cy="15544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ระบบจองห้องเรียน ห้องประชุม</a:t>
            </a:r>
          </a:p>
          <a:p>
            <a:pPr algn="ctr">
              <a:spcBef>
                <a:spcPts val="600"/>
              </a:spcBef>
            </a:pPr>
            <a:r>
              <a:rPr sz="4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และอุปกรณ์ภายในคณะ</a:t>
            </a:r>
          </a:p>
        </p:txBody>
      </p:sp>
      <p:pic>
        <p:nvPicPr>
          <p:cNvPr id="10" name="Picture 9" descr="template-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251960"/>
            <a:ext cx="1408175" cy="1469735"/>
          </a:xfrm>
          <a:prstGeom prst="rect">
            <a:avLst/>
          </a:prstGeom>
          <a:effectLst/>
        </p:spPr>
      </p:pic>
      <p:pic>
        <p:nvPicPr>
          <p:cNvPr id="11" name="Picture 10" descr="template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4251960"/>
            <a:ext cx="1755648" cy="1562294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ภาพรวม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สารบัญ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2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7452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87452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87452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การจองที่กระจัดกระจาย และผลที่ตามมา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0604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60604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ทางออก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60604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ระบบจองกลาง โครงหน้าจอ และผังงาน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3756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33756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ความต้องการ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33756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สิ่งที่ระบบช่วยได้ และใครได้ประโยชน์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6908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06908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06908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06908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ขั้นต่อไป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 ปัญหา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การจองที่กระจัดกระจาย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แจ้งเจ้าหน้าที่โดยตรง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89020" y="217627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โทรศัพท์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89020" y="304495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LINE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89020" y="391363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เอกสารกระดาษ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589020" y="478231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1965960"/>
            <a:ext cx="3291840" cy="3264408"/>
          </a:xfrm>
          <a:prstGeom prst="roundRect">
            <a:avLst>
              <a:gd name="adj" fmla="val 224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965960"/>
            <a:ext cx="2926080" cy="326440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ไล่ตรวจตารางเรียน</a:t>
            </a:r>
          </a:p>
          <a:p>
            <a:pPr algn="ctr">
              <a:spcBef>
                <a:spcPts val="0"/>
              </a:spcBef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ตารางประชุม และสมุดจอง</a:t>
            </a:r>
          </a:p>
          <a:p>
            <a:pPr algn="ctr">
              <a:spcBef>
                <a:spcPts val="0"/>
              </a:spcBef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จากหลายแหล่งด้วยตนเอง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607808" y="3483864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965960"/>
            <a:ext cx="3596335" cy="3264408"/>
          </a:xfrm>
          <a:prstGeom prst="roundRect">
            <a:avLst>
              <a:gd name="adj" fmla="val 2240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965960"/>
            <a:ext cx="3047695" cy="326440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เมื่อเกิดปัญหา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เจ้าหน้าที่ต้องจัดการเองทั้งหมด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 ปัญหา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ปัญหาหลัก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2875178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เสียเวลา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ทุกคำขอต้องถามและตรวจด้วยมือ เจ้าหน้าที่ทำงานซ้ำซาก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9202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2194560"/>
            <a:ext cx="2875178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ตารางชน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ข้อมูลอยู่หลายที่ จึงจองซ้อนกับตารางเรียน การสอนสะดุด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9202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7836" y="2194560"/>
            <a:ext cx="2875178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ผู้บริหารมองไม่เห็น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ข้อมูลการใช้งานอยู่ใน</a:t>
            </a:r>
          </a:p>
          <a:p>
            <a:pPr algn="l">
              <a:spcBef>
                <a:spcPts val="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เอกสารที่ไม่เป็นดิจิทัล</a:t>
            </a:r>
          </a:p>
          <a:p>
            <a:pPr algn="l">
              <a:spcBef>
                <a:spcPts val="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ดึงมาใช้ทันทีไม่ได้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 ปัญหา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ผู้ใช้ระบบหลัก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2377440" cy="694944"/>
          </a:xfrm>
          <a:prstGeom prst="roundRect">
            <a:avLst>
              <a:gd name="adj" fmla="val 10526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2377440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นิสิต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920240"/>
            <a:ext cx="8579815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20240"/>
            <a:ext cx="8031175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ถ้าใช้ยาก ระบบจะไม่ถูกใช้งานจริง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2377440" cy="694944"/>
          </a:xfrm>
          <a:prstGeom prst="roundRect">
            <a:avLst>
              <a:gd name="adj" fmla="val 10526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377440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อาจารย์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743200"/>
            <a:ext cx="8579815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743200"/>
            <a:ext cx="8031175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ใช้ห้องสอนและประชุม ถ้าตารางชน การสอนสะดุด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2377440" cy="694944"/>
          </a:xfrm>
          <a:prstGeom prst="roundRect">
            <a:avLst>
              <a:gd name="adj" fmla="val 10526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2377440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566160"/>
            <a:ext cx="8579815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566160"/>
            <a:ext cx="8031175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อนุมัติคำขอ จ่ายและรับคืนอุปกรณ์ ถ้าระบบไม่ลดงาน ก็ซ้ำซ้อนเหมือนเดิม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53128"/>
            <a:ext cx="1109441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ผู้เกี่ยวข้องอื่น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3545738" cy="777240"/>
          </a:xfrm>
          <a:prstGeom prst="roundRect">
            <a:avLst>
              <a:gd name="adj" fmla="val 94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3088538" cy="777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ผู้ดูแลห้อง/อุปกรณ์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เตรียมและดูแลห้องกับอุปกรณ์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4773168"/>
            <a:ext cx="3545738" cy="777240"/>
          </a:xfrm>
          <a:prstGeom prst="roundRect">
            <a:avLst>
              <a:gd name="adj" fmla="val 94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1578" y="4773168"/>
            <a:ext cx="3088538" cy="777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ผู้บริหาร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ใช้สถิติวางแผนทรัพยากร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7316" y="4773168"/>
            <a:ext cx="3545738" cy="777240"/>
          </a:xfrm>
          <a:prstGeom prst="roundRect">
            <a:avLst>
              <a:gd name="adj" fmla="val 94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5916" y="4773168"/>
            <a:ext cx="3088538" cy="777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ดูแลสิทธิ์และความเสถียรของระบบ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ระบบจองกลาง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40938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เสียเวลา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59965" y="2953512"/>
            <a:ext cx="292608" cy="32918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401568"/>
            <a:ext cx="3515258" cy="1737360"/>
          </a:xfrm>
          <a:prstGeom prst="roundRect">
            <a:avLst>
              <a:gd name="adj" fmla="val 421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3149498" cy="17373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เช็กห้องว่าง</a:t>
            </a:r>
          </a:p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และส่งคำขอได้เอง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9202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5378" y="1920240"/>
            <a:ext cx="3240938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ตารางชน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9543" y="2953512"/>
            <a:ext cx="292608" cy="32918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8218" y="3401568"/>
            <a:ext cx="3515258" cy="1737360"/>
          </a:xfrm>
          <a:prstGeom prst="roundRect">
            <a:avLst>
              <a:gd name="adj" fmla="val 421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98" y="3401568"/>
            <a:ext cx="3149498" cy="17373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ระบบตรวจการชนให้</a:t>
            </a:r>
          </a:p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ก่อนรับคำขอ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19202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4956" y="1920240"/>
            <a:ext cx="3240938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ผู้บริหารมองไม่เห็น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739122" y="2953512"/>
            <a:ext cx="292608" cy="32918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27796" y="3401568"/>
            <a:ext cx="3515258" cy="1737360"/>
          </a:xfrm>
          <a:prstGeom prst="roundRect">
            <a:avLst>
              <a:gd name="adj" fmla="val 421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0676" y="3401568"/>
            <a:ext cx="3149498" cy="17373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มีข้อมูลการใช้งาน</a:t>
            </a:r>
          </a:p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ที่สามารถดึงได้ทันที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 · โครงหน้าจอ 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หน้าค้นหา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1892808"/>
            <a:ext cx="54864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32304"/>
            <a:ext cx="18288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ตัวกรอง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24912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93522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2935224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10 ต.ค. 2569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8686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เริ่ม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456432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456432"/>
            <a:ext cx="7772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09:00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246120"/>
            <a:ext cx="8686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สิ้นสุด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456432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1952" y="3456432"/>
            <a:ext cx="7772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94760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ประเภท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4032504"/>
            <a:ext cx="128016" cy="128016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005072"/>
            <a:ext cx="1280160" cy="1828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ห้องเรียน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42245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197096"/>
            <a:ext cx="1280160" cy="1828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ห้องประชุม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44165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1280160" cy="1828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อุปกรณ์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572000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จำนวนผู้เข้าร่วม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782312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782312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40 คน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102352"/>
            <a:ext cx="18288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102352"/>
            <a:ext cx="18288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ใช้ตัวกรอง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340864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2340864"/>
            <a:ext cx="31089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ค้นหาชื่อห้องหรืออุปกรณ์ เช่น 401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2340864"/>
            <a:ext cx="749808" cy="274320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340864"/>
            <a:ext cx="74980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2670048"/>
            <a:ext cx="2743200" cy="2286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ผลการค้นหา 3 รายการ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29443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27248" y="3044952"/>
            <a:ext cx="7315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77640" y="3017520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40" y="3310128"/>
            <a:ext cx="21945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ความจุ 50 คน · โพรเจกเตอร์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026664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026664"/>
            <a:ext cx="64008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3346704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346704"/>
            <a:ext cx="8686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จอง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37947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27248" y="3895344"/>
            <a:ext cx="7315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77640" y="3867912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40" y="4160520"/>
            <a:ext cx="21945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ความจุ 40 คน · จอสมาร์ต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3877056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3877056"/>
            <a:ext cx="64008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ไม่ว่าง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4197096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197096"/>
            <a:ext cx="8686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ดูเวลาอื่น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464515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27248" y="4745736"/>
            <a:ext cx="7315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77640" y="4718304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77640" y="5010912"/>
            <a:ext cx="21945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ความจุ 60 คน · โพรเจกเตอร์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4727448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727448"/>
            <a:ext cx="64008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5047488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5047488"/>
            <a:ext cx="8686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จอง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656" y="2322576"/>
            <a:ext cx="2212848" cy="3172968"/>
          </a:xfrm>
          <a:prstGeom prst="roundRect">
            <a:avLst>
              <a:gd name="adj" fmla="val 3305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8640" y="21945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21945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35040" y="2971799"/>
            <a:ext cx="1042415" cy="694944"/>
          </a:xfrm>
          <a:prstGeom prst="roundRect">
            <a:avLst>
              <a:gd name="adj" fmla="val 10526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07024" y="2843783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07024" y="2843783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35040" y="3822192"/>
            <a:ext cx="1042415" cy="694944"/>
          </a:xfrm>
          <a:prstGeom prst="roundRect">
            <a:avLst>
              <a:gd name="adj" fmla="val 10526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907024" y="3694176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07024" y="3694176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นิสิตและอาจารย์</a:t>
            </a:r>
          </a:p>
        </p:txBody>
      </p:sp>
      <p:sp>
        <p:nvSpPr>
          <p:cNvPr id="80" name="Oval 79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ค้นหาด้วยชื่อ หรือกรองตามวัน เวลา ประเภท และจำนวนคน</a:t>
            </a:r>
          </a:p>
        </p:txBody>
      </p:sp>
      <p:sp>
        <p:nvSpPr>
          <p:cNvPr id="83" name="Oval 82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เห็นทันทีว่าห้องไหนว่าง ไม่ต้องโทรถาม</a:t>
            </a:r>
          </a:p>
        </p:txBody>
      </p:sp>
      <p:sp>
        <p:nvSpPr>
          <p:cNvPr id="86" name="Oval 85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ห้องไม่ว่างมีปุ่มดูเวลาอื่น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 · โครงหน้าจอ 2/4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หน้าส่งคำขอ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1892808"/>
            <a:ext cx="54864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286000"/>
            <a:ext cx="22860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ส่งคำขอจอง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" y="2697480"/>
            <a:ext cx="219456" cy="219456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697480"/>
            <a:ext cx="219456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97480"/>
            <a:ext cx="10058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เลือกห้อง</a:t>
            </a:r>
          </a:p>
        </p:txBody>
      </p:sp>
      <p:sp>
        <p:nvSpPr>
          <p:cNvPr id="21" name="Oval 20"/>
          <p:cNvSpPr/>
          <p:nvPr/>
        </p:nvSpPr>
        <p:spPr>
          <a:xfrm>
            <a:off x="2148839" y="26974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39" y="2697480"/>
            <a:ext cx="219456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59" y="2697480"/>
            <a:ext cx="10058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กรอกคำขอ</a:t>
            </a:r>
          </a:p>
        </p:txBody>
      </p:sp>
      <p:sp>
        <p:nvSpPr>
          <p:cNvPr id="24" name="Oval 23"/>
          <p:cNvSpPr/>
          <p:nvPr/>
        </p:nvSpPr>
        <p:spPr>
          <a:xfrm>
            <a:off x="3474720" y="26974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697480"/>
            <a:ext cx="219456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697480"/>
            <a:ext cx="10058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รอผลอนุมัติ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044951"/>
            <a:ext cx="17830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ห้องหรืออุปกรณ์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" y="3255264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" y="3255264"/>
            <a:ext cx="1691639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044951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5526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3255264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10 ต.ค. 2569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593592"/>
            <a:ext cx="8686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เริ่ม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" y="380390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1" y="3803904"/>
            <a:ext cx="7772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09:00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3593592"/>
            <a:ext cx="82296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สิ้นสุด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3803904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56232" y="3803904"/>
            <a:ext cx="73152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12:00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93592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จำนวนผู้เข้าร่วม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80390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3803904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40 คน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4142232"/>
            <a:ext cx="3749039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วัตถุประสงค์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59" y="4352543"/>
            <a:ext cx="374903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352543"/>
            <a:ext cx="36576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ประชุมชมรม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3063240"/>
            <a:ext cx="2240280" cy="1783080"/>
          </a:xfrm>
          <a:prstGeom prst="roundRect">
            <a:avLst>
              <a:gd name="adj" fmla="val 4102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79" y="3136392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ผลการตรวจสถานะว่าง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79" y="3493008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79" y="3493008"/>
            <a:ext cx="5486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3493008"/>
            <a:ext cx="137160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79" y="3767328"/>
            <a:ext cx="2011680" cy="2286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10 ต.ค. 2569 เวลา 09:00-12:00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79" y="4069080"/>
            <a:ext cx="201168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ถ้าแก้ห้อง วัน หรือเวลา ระบบจะตรวจให้ใหม่ทันที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74920" y="512064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20" y="5120640"/>
            <a:ext cx="9144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ยกเลิก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79" y="5120640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79" y="5120640"/>
            <a:ext cx="96012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" y="2624328"/>
            <a:ext cx="3886200" cy="3657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1792" y="249631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249631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" y="3008376"/>
            <a:ext cx="3904487" cy="1097280"/>
          </a:xfrm>
          <a:prstGeom prst="roundRect">
            <a:avLst>
              <a:gd name="adj" fmla="val 6666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1792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73168" y="2990088"/>
            <a:ext cx="2386584" cy="1929384"/>
          </a:xfrm>
          <a:prstGeom prst="roundRect">
            <a:avLst>
              <a:gd name="adj" fmla="val 3791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645152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5152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นิสิตและอาจารย์</a:t>
            </a:r>
          </a:p>
        </p:txBody>
      </p:sp>
      <p:sp>
        <p:nvSpPr>
          <p:cNvPr id="67" name="Oval 66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เห็นว่าคำขออยู่ขั้นไหน ตั้งแต่ส่งจนได้ผล</a:t>
            </a:r>
          </a:p>
        </p:txBody>
      </p:sp>
      <p:sp>
        <p:nvSpPr>
          <p:cNvPr id="70" name="Oval 69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แก้ห้อง วัน และเวลาได้ ไม่ต้องค้นหาใหม่</a:t>
            </a:r>
          </a:p>
        </p:txBody>
      </p:sp>
      <p:sp>
        <p:nvSpPr>
          <p:cNvPr id="73" name="Oval 72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ตรวจสถานะว่างใหม่ทุกครั้งที่แก้ กันจองชนกับตารางเรียน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 · โครงหน้าจอ 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หน้าตรวจสอบสถานะ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892808"/>
            <a:ext cx="105156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828800"/>
            <a:ext cx="10515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27432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ตรวจสอบสถานะคำขอ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รออนุมัติ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อนุมัติแล้ว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ปฏิเสธ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22959" y="3063240"/>
          <a:ext cx="62179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88720"/>
                <a:gridCol w="1371600"/>
                <a:gridCol w="173736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เลขที่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ผู้จอง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ห้องหรืออุปกรณ์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วันเวลา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0124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ก.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 401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09:00-12:00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รออนุมัติ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อาจารย์ ข.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โพรเจกเตอร์ 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13:00-16:00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อนุมัติแล้ว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เจ้าหน้าที่ ค.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ห้องประชุม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 ต.ค. 09:00-11:00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อนุมัติแล้ว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822959" y="4389120"/>
            <a:ext cx="6217920" cy="1051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34840"/>
            <a:ext cx="365760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รายละเอียดคำขอ 0124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63440"/>
            <a:ext cx="4114800" cy="2286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วัตถุประสงค์: ประชุมชมรม · 40 คน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956048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4956048"/>
            <a:ext cx="3749039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 (ต้องกรอกเมื่อปฏิเสธ)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79" y="4992624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79" y="4992624"/>
            <a:ext cx="9144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ปฏิเสธ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992624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992624"/>
            <a:ext cx="9144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2606040"/>
            <a:ext cx="3749039" cy="38404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792" y="2478024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2478024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3008376"/>
            <a:ext cx="6364224" cy="1261872"/>
          </a:xfrm>
          <a:prstGeom prst="roundRect">
            <a:avLst>
              <a:gd name="adj" fmla="val 5797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1792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" y="4901184"/>
            <a:ext cx="6108192" cy="45720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8952" y="4773168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4773168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48" name="Oval 47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กรองตามสถานะ หาคำขอที่ต้องพิจารณาได้เร็ว</a:t>
            </a:r>
          </a:p>
        </p:txBody>
      </p:sp>
      <p:sp>
        <p:nvSpPr>
          <p:cNvPr id="51" name="Oval 50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ทุกคำขอรวมอยู่ในตารางเดียว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ไม่ต้องไล่ดูหลายช่องทาง</a:t>
            </a:r>
          </a:p>
        </p:txBody>
      </p:sp>
      <p:sp>
        <p:nvSpPr>
          <p:cNvPr id="54" name="Oval 53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ปฏิเสธต้องใส่เหตุผล ผู้ขอรู้ว่าต้องแก้อะไร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 · โครงหน้าจอ 4/4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หน้าบันทึกยืม-คืน/เช็กอิน-เช็กเอาต์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1144" y="1892808"/>
            <a:ext cx="173736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828800"/>
            <a:ext cx="10515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ตรวจสอบสถานะ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36576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บันทึกการยืม-คืน/เช็กอิน-เช็กเอาต์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2670048"/>
            <a:ext cx="731520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670048"/>
            <a:ext cx="73152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27631" y="2670048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1" y="2670048"/>
            <a:ext cx="10972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รอยืม/เช็กอิน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98063" y="2670048"/>
            <a:ext cx="82296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3" y="2670048"/>
            <a:ext cx="8229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กำลังใช้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4175" y="2670048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5" y="2670048"/>
            <a:ext cx="91440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เกินกำหนด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7" y="2670048"/>
            <a:ext cx="1463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7" y="2670048"/>
            <a:ext cx="14630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คืน/เช็กเอาต์แล้ว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22959" y="3063240"/>
          <a:ext cx="62179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77240"/>
                <a:gridCol w="1005840"/>
                <a:gridCol w="914400"/>
                <a:gridCol w="914400"/>
                <a:gridCol w="96012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เลขที่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ผู้จอง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ห้องหรืออุปกรณ์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กำหนดสิ้นสุด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ยืม/เช็กอิน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0128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จ.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กล้องถ่ายวิดีโอ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รอยืม/เช็กอิน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เจ้าหน้าที่ ค.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ห้องประชุม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 ต.ค. 11:00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รอยืม/เช็กอิน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อาจารย์ ข.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โพรเจกเตอร์ 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13:00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กำลังใช้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ง.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ไมโครโฟน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09:05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เกินกำหนด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อาจารย์ ช.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 402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08:55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ฉ.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โพรเจกเตอร์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13:00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15:40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0119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ซ.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ห้องประชุม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ต.ค. 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ต.ค. 13:10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ต.ค. 15:50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49808" y="2606040"/>
            <a:ext cx="5468112" cy="38404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2478024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478024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008376"/>
            <a:ext cx="3182112" cy="2450592"/>
          </a:xfrm>
          <a:prstGeom prst="roundRect">
            <a:avLst>
              <a:gd name="adj" fmla="val 2985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1792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5072" y="3008376"/>
            <a:ext cx="3108960" cy="2450592"/>
          </a:xfrm>
          <a:prstGeom prst="roundRect">
            <a:avLst>
              <a:gd name="adj" fmla="val 2985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77056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77056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41" name="Oval 40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แยกตามสถานะ เห็นว่าอยู่ขั้นไหน</a:t>
            </a:r>
          </a:p>
        </p:txBody>
      </p:sp>
      <p:sp>
        <p:nvSpPr>
          <p:cNvPr id="44" name="Oval 43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เห็นผู้จองและกำหนดสิ้นสุดของทุกรายการ</a:t>
            </a:r>
          </a:p>
        </p:txBody>
      </p:sp>
      <p:sp>
        <p:nvSpPr>
          <p:cNvPr id="47" name="Oval 46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เห็นเวลายืมหรือเช็กอิน และคืนหรือเช็กเอาต์ ของทุกรายการ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ผังงาน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9240" y="2651760"/>
            <a:ext cx="80158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56858" y="2651760"/>
            <a:ext cx="737578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36852" y="2651760"/>
            <a:ext cx="27123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96806" y="2651760"/>
            <a:ext cx="152362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29328" y="2651760"/>
            <a:ext cx="22551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83608" y="2395728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97258" y="2651760"/>
            <a:ext cx="27123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57212" y="2651760"/>
            <a:ext cx="27123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89248" y="1874520"/>
            <a:ext cx="0" cy="36576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23654" y="1874520"/>
            <a:ext cx="86559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3256" y="2002536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628842" y="1874520"/>
            <a:ext cx="2252396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28842" y="1874520"/>
            <a:ext cx="0" cy="649224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49654" y="2971799"/>
            <a:ext cx="0" cy="32004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084060" y="3703320"/>
            <a:ext cx="22551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99846" y="34290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ใช่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816130" y="3703320"/>
            <a:ext cx="22551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83608" y="3703320"/>
            <a:ext cx="152362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26242" y="34290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ใช่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756858" y="3703320"/>
            <a:ext cx="343803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76050" y="4114800"/>
            <a:ext cx="0" cy="18288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40058" y="41148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143660" y="4617720"/>
            <a:ext cx="343803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628842" y="4617720"/>
            <a:ext cx="1258786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628842" y="3831336"/>
            <a:ext cx="0" cy="786384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699240" y="3703320"/>
            <a:ext cx="80158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49654" y="4114800"/>
            <a:ext cx="0" cy="18288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13662" y="41148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949654" y="4937760"/>
            <a:ext cx="0" cy="18288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015644" y="5120640"/>
            <a:ext cx="693401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015644" y="4745736"/>
            <a:ext cx="0" cy="374904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rminator 40"/>
          <p:cNvSpPr/>
          <p:nvPr/>
        </p:nvSpPr>
        <p:spPr>
          <a:xfrm>
            <a:off x="784840" y="2423160"/>
            <a:ext cx="914400" cy="457200"/>
          </a:xfrm>
          <a:prstGeom prst="flowChartTerminator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4840" y="24231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เริ่ม</a:t>
            </a:r>
          </a:p>
        </p:txBody>
      </p:sp>
      <p:sp>
        <p:nvSpPr>
          <p:cNvPr id="43" name="Oval 42"/>
          <p:cNvSpPr/>
          <p:nvPr/>
        </p:nvSpPr>
        <p:spPr>
          <a:xfrm>
            <a:off x="2500826" y="252374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 43"/>
          <p:cNvSpPr/>
          <p:nvPr/>
        </p:nvSpPr>
        <p:spPr>
          <a:xfrm>
            <a:off x="3421284" y="233172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58444" y="233172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รับเงื่อนไข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8086" y="233172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5518" y="2331720"/>
            <a:ext cx="1133856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ตรวจสถานะว่าง</a:t>
            </a:r>
          </a:p>
        </p:txBody>
      </p:sp>
      <p:sp>
        <p:nvSpPr>
          <p:cNvPr id="48" name="Diamond 47"/>
          <p:cNvSpPr/>
          <p:nvPr/>
        </p:nvSpPr>
        <p:spPr>
          <a:xfrm>
            <a:off x="6149168" y="2240280"/>
            <a:ext cx="1280160" cy="822960"/>
          </a:xfrm>
          <a:prstGeom prst="diamond">
            <a:avLst/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6328" y="2240280"/>
            <a:ext cx="1005840" cy="8229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ว่างไหม?</a:t>
            </a:r>
          </a:p>
        </p:txBody>
      </p:sp>
      <p:sp>
        <p:nvSpPr>
          <p:cNvPr id="50" name="Data 49"/>
          <p:cNvSpPr/>
          <p:nvPr/>
        </p:nvSpPr>
        <p:spPr>
          <a:xfrm>
            <a:off x="7581690" y="233172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18850" y="233172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รับคำขอจอง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8492" y="233172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95924" y="2331720"/>
            <a:ext cx="1133856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บันทึกคำขอ</a:t>
            </a:r>
          </a:p>
        </p:txBody>
      </p:sp>
      <p:sp>
        <p:nvSpPr>
          <p:cNvPr id="54" name="Data 53"/>
          <p:cNvSpPr/>
          <p:nvPr/>
        </p:nvSpPr>
        <p:spPr>
          <a:xfrm>
            <a:off x="10355294" y="233172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2454" y="233172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แจ้ง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56" name="Data 55"/>
          <p:cNvSpPr/>
          <p:nvPr/>
        </p:nvSpPr>
        <p:spPr>
          <a:xfrm>
            <a:off x="4808086" y="155448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45246" y="155448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แสดง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ทางเลือก</a:t>
            </a:r>
          </a:p>
        </p:txBody>
      </p:sp>
      <p:sp>
        <p:nvSpPr>
          <p:cNvPr id="58" name="Diamond 57"/>
          <p:cNvSpPr/>
          <p:nvPr/>
        </p:nvSpPr>
        <p:spPr>
          <a:xfrm>
            <a:off x="10309574" y="3291840"/>
            <a:ext cx="1280160" cy="822960"/>
          </a:xfrm>
          <a:prstGeom prst="diamond">
            <a:avLst/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46734" y="3291840"/>
            <a:ext cx="1005840" cy="8229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อนุมัติ?</a:t>
            </a:r>
          </a:p>
        </p:txBody>
      </p:sp>
      <p:sp>
        <p:nvSpPr>
          <p:cNvPr id="60" name="Data 59"/>
          <p:cNvSpPr/>
          <p:nvPr/>
        </p:nvSpPr>
        <p:spPr>
          <a:xfrm>
            <a:off x="8968492" y="338328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05652" y="338328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แจ้งผล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62" name="Diamond 61"/>
          <p:cNvSpPr/>
          <p:nvPr/>
        </p:nvSpPr>
        <p:spPr>
          <a:xfrm>
            <a:off x="7535970" y="3291840"/>
            <a:ext cx="1280160" cy="822960"/>
          </a:xfrm>
          <a:prstGeom prst="diamond">
            <a:avLst/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73130" y="3291840"/>
            <a:ext cx="1005840" cy="8229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เป็นอุปกรณ์</a:t>
            </a:r>
          </a:p>
          <a:p>
            <a:pPr algn="ctr">
              <a:spcBef>
                <a:spcPts val="0"/>
              </a:spcBef>
            </a:pPr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ไหม?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4888" y="338328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3176" y="3383280"/>
            <a:ext cx="1152144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บันทึกการยืม</a:t>
            </a:r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และคืน</a:t>
            </a:r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ผ่านเจ้าหน้าที่</a:t>
            </a:r>
          </a:p>
        </p:txBody>
      </p:sp>
      <p:sp>
        <p:nvSpPr>
          <p:cNvPr id="66" name="Oval 65"/>
          <p:cNvSpPr/>
          <p:nvPr/>
        </p:nvSpPr>
        <p:spPr>
          <a:xfrm>
            <a:off x="2500826" y="357530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rminator 66"/>
          <p:cNvSpPr/>
          <p:nvPr/>
        </p:nvSpPr>
        <p:spPr>
          <a:xfrm>
            <a:off x="784840" y="3474720"/>
            <a:ext cx="914400" cy="457200"/>
          </a:xfrm>
          <a:prstGeom prst="flowChartTerminator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4840" y="347472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จบ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1690" y="429768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09122" y="4297680"/>
            <a:ext cx="1133856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บันทึกเช็กอิน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และเช็กเอาต์</a:t>
            </a:r>
          </a:p>
        </p:txBody>
      </p:sp>
      <p:sp>
        <p:nvSpPr>
          <p:cNvPr id="71" name="Data 70"/>
          <p:cNvSpPr/>
          <p:nvPr/>
        </p:nvSpPr>
        <p:spPr>
          <a:xfrm>
            <a:off x="10355294" y="429768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92454" y="429768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แจ้งเหตุผล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ที่ปฏิเสธ</a:t>
            </a:r>
          </a:p>
        </p:txBody>
      </p:sp>
      <p:sp>
        <p:nvSpPr>
          <p:cNvPr id="73" name="Oval 72"/>
          <p:cNvSpPr/>
          <p:nvPr/>
        </p:nvSpPr>
        <p:spPr>
          <a:xfrm>
            <a:off x="3887628" y="448970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03 ความต้องการ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ระบบช่วยได้หลายอย่าง โดยมี 4 อย่างที่สำคัญที่สุด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7396276" cy="3200400"/>
          </a:xfrm>
          <a:prstGeom prst="roundRect">
            <a:avLst>
              <a:gd name="adj" fmla="val 2285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46778" y="1920240"/>
            <a:ext cx="7396276" cy="3200400"/>
          </a:xfrm>
          <a:prstGeom prst="roundRect">
            <a:avLst>
              <a:gd name="adj" fmla="val 2285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6778" y="1920240"/>
            <a:ext cx="3698138" cy="3200400"/>
          </a:xfrm>
          <a:prstGeom prst="rect">
            <a:avLst/>
          </a:prstGeom>
          <a:solidFill>
            <a:srgbClr val="C9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305805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นิสิตและอาจารย์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974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974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เห็นสถานะว่างทันที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546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ค้นหาตามเงื่อนไข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ส่งคำขอออนไลน์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ติดตามสถานะคำขอ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แก้ไขหรือยกเลิกได้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6818" y="2103120"/>
            <a:ext cx="305805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ทั้งสองฝ่าย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5378" y="26974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6818" y="26974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ตรวจการชนอัตโนมัติ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6818" y="31546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อนุมัติพร้อมเหตุผล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6818" y="36118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แจ้งเตือนอัตโนมัติ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4956" y="2103120"/>
            <a:ext cx="305805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3516" y="26974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4956" y="26974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บันทึกยืม-คืน/เช็กอิน-เช็กเอาต์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3516" y="31546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4956" y="31546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ดึงข้อมูลการใช้งานได้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36118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จัดการห้องและอุปกรณ์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40690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บันทึกประวัติทุกครั้ง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04 สรุป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ขั้นต่อไป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48840"/>
            <a:ext cx="278373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สิ่งที่มีแล้ว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43200"/>
            <a:ext cx="278373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 และผู้ใช้ระบบหลัก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สิ่งที่ระบบต้องทำ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ผังงาน และโครงหน้าจอ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1018" y="1920240"/>
            <a:ext cx="548640" cy="21488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9658" y="192024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3978" y="2148840"/>
            <a:ext cx="278373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คำถามที่ยังตอบไม่ได้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978" y="2743200"/>
            <a:ext cx="278373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ปัญหาเกิดบ่อยแค่ไหน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เจ้าหน้าที่เสียเวลาเท่าไร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สำเร็จวัดจากอะไร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2036" y="1920240"/>
            <a:ext cx="548640" cy="21488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0676" y="192024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4996" y="2148840"/>
            <a:ext cx="278373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สิ่งที่ต้องไปเก็บต่อ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4996" y="2743200"/>
            <a:ext cx="278373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จำนวนคำขอ และครั้งที่จองชน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เวลาที่ใช้ต่อหนึ่งคำขอ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ตัวเลขเป้าหมายจากผู้บริหาร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