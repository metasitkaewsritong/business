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67160403</a:t>
            </a:r>
          </a:p>
        </p:txBody>
      </p:sp>
      <p:pic>
        <p:nvPicPr>
          <p:cNvPr id="8" name="pin" descr="deco-cor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0" y="2743200"/>
            <a:ext cx="3870655" cy="4997752"/>
          </a:xfrm>
          <a:prstGeom prst="rect">
            <a:avLst/>
          </a:prstGeom>
          <a:effectLst/>
        </p:spPr>
      </p:pic>
      <p:pic>
        <p:nvPicPr>
          <p:cNvPr id="9" name="pin" descr="deco-cor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743200"/>
            <a:ext cx="3870655" cy="4997752"/>
          </a:xfrm>
          <a:prstGeom prst="rect">
            <a:avLst/>
          </a:prstGeom>
          <a:effectLst/>
        </p:spPr>
      </p:pic>
      <p:sp>
        <p:nvSpPr>
          <p:cNvPr id="10" name="pin"/>
          <p:cNvSpPr txBox="1"/>
          <p:nvPr/>
        </p:nvSpPr>
        <p:spPr>
          <a:xfrm>
            <a:off x="548640" y="2103120"/>
            <a:ext cx="11094415" cy="19202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ระบบจองห้องเรียน ห้องประชุม</a:t>
            </a:r>
          </a:p>
          <a:p>
            <a:pPr algn="ctr">
              <a:spcBef>
                <a:spcPts val="0"/>
              </a:spcBef>
            </a:pPr>
            <a:r>
              <a:rPr sz="52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และอุปกรณ์ภายในคณะ</a:t>
            </a:r>
          </a:p>
        </p:txBody>
      </p:sp>
      <p:sp>
        <p:nvSpPr>
          <p:cNvPr id="11" name="pin"/>
          <p:cNvSpPr txBox="1"/>
          <p:nvPr/>
        </p:nvSpPr>
        <p:spPr>
          <a:xfrm>
            <a:off x="548640" y="4343400"/>
            <a:ext cx="1109441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นำเสนอ ณ วันที่ 7 ตุลาคม 2569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67160403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สมาชิก</a:t>
            </a:r>
          </a:p>
        </p:txBody>
      </p:sp>
      <p:pic>
        <p:nvPicPr>
          <p:cNvPr id="9" name="pin" descr="deco-cor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975104"/>
            <a:ext cx="3870655" cy="4997752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2468880" y="1920240"/>
            <a:ext cx="41148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920240"/>
            <a:ext cx="128016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67160003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89120" y="2084832"/>
            <a:ext cx="960120" cy="0"/>
          </a:xfrm>
          <a:prstGeom prst="line">
            <a:avLst/>
          </a:prstGeom>
          <a:ln w="38100">
            <a:solidFill>
              <a:srgbClr val="D1D9E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0" y="1920240"/>
            <a:ext cx="329184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ชุติพนธ์ จิตต์รุ่งเรืองสุข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359152"/>
            <a:ext cx="41148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359152"/>
            <a:ext cx="128016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67160005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89120" y="2523744"/>
            <a:ext cx="960120" cy="0"/>
          </a:xfrm>
          <a:prstGeom prst="line">
            <a:avLst/>
          </a:prstGeom>
          <a:ln w="38100">
            <a:solidFill>
              <a:srgbClr val="D1D9E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0" y="2359152"/>
            <a:ext cx="329184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เมธาสิทธิ์ แก้วศรีทอง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798064"/>
            <a:ext cx="41148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798064"/>
            <a:ext cx="128016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67160018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89120" y="2962656"/>
            <a:ext cx="960120" cy="0"/>
          </a:xfrm>
          <a:prstGeom prst="line">
            <a:avLst/>
          </a:prstGeom>
          <a:ln w="38100">
            <a:solidFill>
              <a:srgbClr val="D1D9E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0" y="2798064"/>
            <a:ext cx="329184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ภูมิพัฒน์ ขันอาสา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236976"/>
            <a:ext cx="41148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236976"/>
            <a:ext cx="128016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67160025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9120" y="3401568"/>
            <a:ext cx="960120" cy="0"/>
          </a:xfrm>
          <a:prstGeom prst="line">
            <a:avLst/>
          </a:prstGeom>
          <a:ln w="38100">
            <a:solidFill>
              <a:srgbClr val="D1D9E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0" y="3236976"/>
            <a:ext cx="329184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ชิษณุพงศ์ โรจน์เลิศกิจจา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675888"/>
            <a:ext cx="41148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3675888"/>
            <a:ext cx="128016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67160042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89120" y="3840480"/>
            <a:ext cx="960120" cy="0"/>
          </a:xfrm>
          <a:prstGeom prst="line">
            <a:avLst/>
          </a:prstGeom>
          <a:ln w="38100">
            <a:solidFill>
              <a:srgbClr val="D1D9E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0" y="3675888"/>
            <a:ext cx="329184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มนทกานต์ ปาลี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114800"/>
            <a:ext cx="41148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114800"/>
            <a:ext cx="128016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67160178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89120" y="4279391"/>
            <a:ext cx="960120" cy="0"/>
          </a:xfrm>
          <a:prstGeom prst="line">
            <a:avLst/>
          </a:prstGeom>
          <a:ln w="38100">
            <a:solidFill>
              <a:srgbClr val="D1D9E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0" y="4114800"/>
            <a:ext cx="329184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จตุพร ธรรมฤทธิ์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553712"/>
            <a:ext cx="41148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7.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4553712"/>
            <a:ext cx="128016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67160193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89120" y="4718304"/>
            <a:ext cx="960120" cy="0"/>
          </a:xfrm>
          <a:prstGeom prst="line">
            <a:avLst/>
          </a:prstGeom>
          <a:ln w="38100">
            <a:solidFill>
              <a:srgbClr val="D1D9E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9280" y="4553712"/>
            <a:ext cx="329184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พัชรพงษ์ สังข์กล่อม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4992624"/>
            <a:ext cx="41148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8.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4992624"/>
            <a:ext cx="128016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67160403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389120" y="5157216"/>
            <a:ext cx="960120" cy="0"/>
          </a:xfrm>
          <a:prstGeom prst="line">
            <a:avLst/>
          </a:prstGeom>
          <a:ln w="38100">
            <a:solidFill>
              <a:srgbClr val="D1D9E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0" y="4992624"/>
            <a:ext cx="3291840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พชร ปฏิมาการ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67160403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สารบัญ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1094415" cy="603504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74520"/>
            <a:ext cx="73152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1874520"/>
            <a:ext cx="274320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ปัญหา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874520"/>
            <a:ext cx="6796735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การจองที่กระจัดกระจาย และผลที่ตามมา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06040"/>
            <a:ext cx="11094415" cy="603504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606040"/>
            <a:ext cx="73152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2606040"/>
            <a:ext cx="274320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ทางออก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606040"/>
            <a:ext cx="6796735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ระบบจองกลาง โครงหน้าจอ และผังงาน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37560"/>
            <a:ext cx="11094415" cy="603504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337560"/>
            <a:ext cx="73152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3337560"/>
            <a:ext cx="274320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ความต้องการ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3337560"/>
            <a:ext cx="6796735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สิ่งที่ระบบช่วยได้ และใครได้ประโยชน์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69080"/>
            <a:ext cx="11094415" cy="603504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069080"/>
            <a:ext cx="73152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4069080"/>
            <a:ext cx="2743200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069080"/>
            <a:ext cx="6796735" cy="60350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ขั้นต่อไป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01 ปัญหา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67160403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การจองที่กระจัดกระจาย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2743200" cy="6583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แจ้งเจ้าหน้าที่โดยตรง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89020" y="2176272"/>
            <a:ext cx="274320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83464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2743200" cy="6583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โทรศัพท์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89020" y="3044952"/>
            <a:ext cx="274320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2743200" cy="6583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LINE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589020" y="3913632"/>
            <a:ext cx="274320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2743200" cy="6583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เอกสารกระดาษ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589020" y="4782312"/>
            <a:ext cx="274320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60520" y="1965960"/>
            <a:ext cx="3291840" cy="3264408"/>
          </a:xfrm>
          <a:prstGeom prst="roundRect">
            <a:avLst>
              <a:gd name="adj" fmla="val 224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965960"/>
            <a:ext cx="2926080" cy="326440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  <a:p>
            <a:pPr algn="ctr"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ไล่ตรวจตารางเรียน</a:t>
            </a:r>
          </a:p>
          <a:p>
            <a:pPr algn="ctr">
              <a:spcBef>
                <a:spcPts val="0"/>
              </a:spcBef>
            </a:pPr>
            <a:r>
              <a: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ตารางประชุม และสมุดจอง</a:t>
            </a:r>
          </a:p>
          <a:p>
            <a:pPr algn="ctr">
              <a:spcBef>
                <a:spcPts val="0"/>
              </a:spcBef>
            </a:pPr>
            <a:r>
              <a: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จากหลายแหล่งด้วยตนเอง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607808" y="3483864"/>
            <a:ext cx="274320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965960"/>
            <a:ext cx="3596335" cy="3264408"/>
          </a:xfrm>
          <a:prstGeom prst="roundRect">
            <a:avLst>
              <a:gd name="adj" fmla="val 224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965960"/>
            <a:ext cx="3047695" cy="326440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เมื่อเกิดปัญหา</a:t>
            </a:r>
          </a:p>
          <a:p>
            <a:pPr algn="ctr">
              <a:spcBef>
                <a:spcPts val="1000"/>
              </a:spcBef>
            </a:pPr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เจ้าหน้าที่ต้องจัดการเองทั้งหมด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01 ปัญหา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ปัญหาหลัก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2875178" cy="1737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เสียเวลา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ทุกคำขอต้องถามและตรวจด้วยมือ เจ้าหน้าที่ทำงานซ้ำซาก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92024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8258" y="2194560"/>
            <a:ext cx="2875178" cy="1737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ตารางชน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ข้อมูลอยู่หลายที่ จึงจองซ้อนกับตารางเรียน การสอนสะดุด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92024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7836" y="2194560"/>
            <a:ext cx="2875178" cy="1737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ผู้บริหารมองไม่เห็น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ข้อมูลการใช้งานอยู่ใน</a:t>
            </a:r>
          </a:p>
          <a:p>
            <a:pPr algn="l">
              <a:spcBef>
                <a:spcPts val="0"/>
              </a:spcBef>
            </a:pPr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เอกสารที่ไม่เป็นดิจิทัล</a:t>
            </a:r>
          </a:p>
          <a:p>
            <a:pPr algn="l">
              <a:spcBef>
                <a:spcPts val="0"/>
              </a:spcBef>
            </a:pPr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ดึงมาใช้ทันทีไม่ได้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01 ปัญหา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ผู้ใช้ระบบหลัก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2377440" cy="694944"/>
          </a:xfrm>
          <a:prstGeom prst="roundRect">
            <a:avLst>
              <a:gd name="adj" fmla="val 10526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2377440" cy="6949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นิสิต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920240"/>
            <a:ext cx="8579815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D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920240"/>
            <a:ext cx="8031175" cy="6949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จองห้องและยืมอุปกรณ์ ถ้าใช้ยาก ระบบจะไม่ถูกใช้งานจริง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43200"/>
            <a:ext cx="2377440" cy="694944"/>
          </a:xfrm>
          <a:prstGeom prst="roundRect">
            <a:avLst>
              <a:gd name="adj" fmla="val 10526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2377440" cy="6949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อาจารย์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2743200"/>
            <a:ext cx="8579815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D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743200"/>
            <a:ext cx="8031175" cy="6949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ใช้ห้องสอนและประชุม ถ้าตารางชน การสอนสะดุด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2377440" cy="694944"/>
          </a:xfrm>
          <a:prstGeom prst="roundRect">
            <a:avLst>
              <a:gd name="adj" fmla="val 10526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2377440" cy="6949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3566160"/>
            <a:ext cx="8579815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1D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566160"/>
            <a:ext cx="8031175" cy="69494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อนุมัติคำขอ จ่ายและรับคืนอุปกรณ์ ถ้าระบบไม่ลดงาน ก็ซ้ำซากเหมือนเดิม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53128"/>
            <a:ext cx="11094415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ผู้เกี่ยวข้องอื่น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3545738" cy="777240"/>
          </a:xfrm>
          <a:prstGeom prst="roundRect">
            <a:avLst>
              <a:gd name="adj" fmla="val 94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73168"/>
            <a:ext cx="3088538" cy="7772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ผู้ดูแลห้อง/อุปกรณ์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เตรียมและดูแลห้องกับอุปกรณ์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2978" y="4773168"/>
            <a:ext cx="3545738" cy="777240"/>
          </a:xfrm>
          <a:prstGeom prst="roundRect">
            <a:avLst>
              <a:gd name="adj" fmla="val 94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1578" y="4773168"/>
            <a:ext cx="3088538" cy="7772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ผู้บริหาร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ใช้สถิติวางแผนทรัพยากร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7316" y="4773168"/>
            <a:ext cx="3545738" cy="777240"/>
          </a:xfrm>
          <a:prstGeom prst="roundRect">
            <a:avLst>
              <a:gd name="adj" fmla="val 9411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5916" y="4773168"/>
            <a:ext cx="3088538" cy="7772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ดูแลสิทธิ์และความเสถียรของระบบ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 ทางออก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ระบบจองกลาง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240938" cy="9144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เสียเวลา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59965" y="2953512"/>
            <a:ext cx="292608" cy="329184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401568"/>
            <a:ext cx="3515258" cy="1737360"/>
          </a:xfrm>
          <a:prstGeom prst="roundRect">
            <a:avLst>
              <a:gd name="adj" fmla="val 421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01568"/>
            <a:ext cx="3149498" cy="17373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เช็กห้องว่าง</a:t>
            </a:r>
          </a:p>
          <a:p>
            <a:pPr algn="ctr">
              <a:spcBef>
                <a:spcPts val="0"/>
              </a:spcBef>
            </a:pPr>
            <a:r>
              <a:rPr sz="2400" b="1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และส่งคำขอได้เอง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192024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5378" y="1920240"/>
            <a:ext cx="3240938" cy="9144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ตารางชน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9543" y="2953512"/>
            <a:ext cx="292608" cy="329184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8218" y="3401568"/>
            <a:ext cx="3515258" cy="1737360"/>
          </a:xfrm>
          <a:prstGeom prst="roundRect">
            <a:avLst>
              <a:gd name="adj" fmla="val 421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1098" y="3401568"/>
            <a:ext cx="3149498" cy="17373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ระบบตรวจการชนให้</a:t>
            </a:r>
          </a:p>
          <a:p>
            <a:pPr algn="ctr">
              <a:spcBef>
                <a:spcPts val="0"/>
              </a:spcBef>
            </a:pPr>
            <a:r>
              <a:rPr sz="2400" b="1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ก่อนรับคำขอ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7796" y="192024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4956" y="1920240"/>
            <a:ext cx="3240938" cy="9144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ผู้บริหารมองไม่เห็น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739122" y="2953512"/>
            <a:ext cx="292608" cy="329184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27796" y="3401568"/>
            <a:ext cx="3515258" cy="1737360"/>
          </a:xfrm>
          <a:prstGeom prst="roundRect">
            <a:avLst>
              <a:gd name="adj" fmla="val 421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0676" y="3401568"/>
            <a:ext cx="3149498" cy="17373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มีข้อมูลการใช้งาน</a:t>
            </a:r>
          </a:p>
          <a:p>
            <a:pPr algn="ctr">
              <a:spcBef>
                <a:spcPts val="0"/>
              </a:spcBef>
            </a:pPr>
            <a:r>
              <a:rPr sz="2400" b="1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ที่สามารถดึงได้ทันที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 ทางออก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โครงหน้าจอ 1/4 · หน้าค้นหา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76656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76656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ระบบจองห้องและอุปกรณ์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86868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ออกจากระบบ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828800"/>
            <a:ext cx="173736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ยืม-คืน/เช็กอิน-เช็กเอาต์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95928" y="1892808"/>
            <a:ext cx="548640" cy="237744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828800"/>
            <a:ext cx="54864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77440"/>
            <a:ext cx="21031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32304"/>
            <a:ext cx="182880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ตัวกรอง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724912"/>
            <a:ext cx="182880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วันที่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935224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2935224"/>
            <a:ext cx="173736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10 ต.ค. 2569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46120"/>
            <a:ext cx="86868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เริ่ม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456432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456432"/>
            <a:ext cx="77724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09:00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246120"/>
            <a:ext cx="86868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สิ้นสุด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456432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01952" y="3456432"/>
            <a:ext cx="77724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12:00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794760"/>
            <a:ext cx="182880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ประเภท</a:t>
            </a:r>
          </a:p>
        </p:txBody>
      </p:sp>
      <p:sp>
        <p:nvSpPr>
          <p:cNvPr id="29" name="Oval 28"/>
          <p:cNvSpPr/>
          <p:nvPr/>
        </p:nvSpPr>
        <p:spPr>
          <a:xfrm>
            <a:off x="868680" y="4032504"/>
            <a:ext cx="128016" cy="128016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005072"/>
            <a:ext cx="1280160" cy="1828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ห้องเรียน</a:t>
            </a:r>
          </a:p>
        </p:txBody>
      </p:sp>
      <p:sp>
        <p:nvSpPr>
          <p:cNvPr id="31" name="Oval 30"/>
          <p:cNvSpPr/>
          <p:nvPr/>
        </p:nvSpPr>
        <p:spPr>
          <a:xfrm>
            <a:off x="868680" y="42245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197096"/>
            <a:ext cx="1280160" cy="1828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ห้องประชุม</a:t>
            </a:r>
          </a:p>
        </p:txBody>
      </p:sp>
      <p:sp>
        <p:nvSpPr>
          <p:cNvPr id="33" name="Oval 32"/>
          <p:cNvSpPr/>
          <p:nvPr/>
        </p:nvSpPr>
        <p:spPr>
          <a:xfrm>
            <a:off x="868680" y="441655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389120"/>
            <a:ext cx="1280160" cy="1828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อุปกรณ์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572000"/>
            <a:ext cx="182880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จำนวนผู้เข้าร่วม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4782312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4782312"/>
            <a:ext cx="173736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40 คน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5102352"/>
            <a:ext cx="182880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102352"/>
            <a:ext cx="182880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ใช้ตัวกรอง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2340864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2340864"/>
            <a:ext cx="310896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ค้นหาชื่อห้องหรืออุปกรณ์ เช่น 401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2340864"/>
            <a:ext cx="749808" cy="274320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2340864"/>
            <a:ext cx="749808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2670048"/>
            <a:ext cx="2743200" cy="2286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ผลการค้นหา 3 รายการ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294436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27248" y="3044952"/>
            <a:ext cx="73152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77640" y="3017520"/>
            <a:ext cx="201168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 401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40" y="3310128"/>
            <a:ext cx="219456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ความจุ 50 คน · โพรเจกเตอร์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3026664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3026664"/>
            <a:ext cx="64008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ว่าง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6480" y="3346704"/>
            <a:ext cx="868680" cy="256032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3346704"/>
            <a:ext cx="86868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จอง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17520" y="37947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27248" y="3895344"/>
            <a:ext cx="73152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77640" y="3867912"/>
            <a:ext cx="201168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 402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77640" y="4160520"/>
            <a:ext cx="219456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ความจุ 40 คน · จอสมาร์ต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9360" y="3877056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3877056"/>
            <a:ext cx="64008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ไม่ว่าง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4197096"/>
            <a:ext cx="86868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4197096"/>
            <a:ext cx="86868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ดูเวลาอื่น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464515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27248" y="4745736"/>
            <a:ext cx="73152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77640" y="4718304"/>
            <a:ext cx="201168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 403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77640" y="5010912"/>
            <a:ext cx="219456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ความจุ 60 คน · โพรเจกเตอร์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60" y="4727448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4727448"/>
            <a:ext cx="64008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ว่าง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26480" y="5047488"/>
            <a:ext cx="868680" cy="256032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80" y="5047488"/>
            <a:ext cx="86868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จอง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6656" y="2322576"/>
            <a:ext cx="2212848" cy="3172968"/>
          </a:xfrm>
          <a:prstGeom prst="roundRect">
            <a:avLst>
              <a:gd name="adj" fmla="val 3305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48640" y="2194560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2194560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35040" y="2971799"/>
            <a:ext cx="1042415" cy="694944"/>
          </a:xfrm>
          <a:prstGeom prst="roundRect">
            <a:avLst>
              <a:gd name="adj" fmla="val 10526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907024" y="2843783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07024" y="2843783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035040" y="3822192"/>
            <a:ext cx="1042415" cy="694944"/>
          </a:xfrm>
          <a:prstGeom prst="roundRect">
            <a:avLst>
              <a:gd name="adj" fmla="val 10526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907024" y="3694176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07024" y="3694176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80960" y="1920240"/>
            <a:ext cx="3962095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ใครใช้เป็นหลัก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80960" y="2194560"/>
            <a:ext cx="3962095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นิสิตและอาจารย์</a:t>
            </a:r>
          </a:p>
        </p:txBody>
      </p:sp>
      <p:sp>
        <p:nvSpPr>
          <p:cNvPr id="80" name="Oval 79"/>
          <p:cNvSpPr/>
          <p:nvPr/>
        </p:nvSpPr>
        <p:spPr>
          <a:xfrm>
            <a:off x="7680960" y="286207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80960" y="286207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40" y="283464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กรองตามวัน เวลา ประเภท และจำนวนคน</a:t>
            </a:r>
          </a:p>
        </p:txBody>
      </p:sp>
      <p:sp>
        <p:nvSpPr>
          <p:cNvPr id="83" name="Oval 82"/>
          <p:cNvSpPr/>
          <p:nvPr/>
        </p:nvSpPr>
        <p:spPr>
          <a:xfrm>
            <a:off x="7680960" y="368503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80960" y="368503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92440" y="365760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เห็นทันทีว่าห้องไหนว่าง ไม่ต้องโทรถาม</a:t>
            </a:r>
          </a:p>
        </p:txBody>
      </p:sp>
      <p:sp>
        <p:nvSpPr>
          <p:cNvPr id="86" name="Oval 85"/>
          <p:cNvSpPr/>
          <p:nvPr/>
        </p:nvSpPr>
        <p:spPr>
          <a:xfrm>
            <a:off x="7680960" y="450799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80960" y="450799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92440" y="448056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ห้องไม่ว่างมีปุ่มดูเวลาอื่น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 ทางออก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โครงหน้าจอ 2/4 · หน้าส่งคำขอ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76656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76656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ระบบจองห้องและอุปกรณ์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86868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ออกจากระบบ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828800"/>
            <a:ext cx="173736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ยืม-คืน/เช็กอิน-เช็กเอาต์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95928" y="1892808"/>
            <a:ext cx="548640" cy="237744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828800"/>
            <a:ext cx="54864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286000"/>
            <a:ext cx="2286000" cy="3200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ส่งคำขอจอง</a:t>
            </a:r>
          </a:p>
        </p:txBody>
      </p:sp>
      <p:sp>
        <p:nvSpPr>
          <p:cNvPr id="18" name="Oval 17"/>
          <p:cNvSpPr/>
          <p:nvPr/>
        </p:nvSpPr>
        <p:spPr>
          <a:xfrm>
            <a:off x="822959" y="2697480"/>
            <a:ext cx="219456" cy="219456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697480"/>
            <a:ext cx="219456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697480"/>
            <a:ext cx="100584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เลือกห้อง</a:t>
            </a:r>
          </a:p>
        </p:txBody>
      </p:sp>
      <p:sp>
        <p:nvSpPr>
          <p:cNvPr id="21" name="Oval 20"/>
          <p:cNvSpPr/>
          <p:nvPr/>
        </p:nvSpPr>
        <p:spPr>
          <a:xfrm>
            <a:off x="2148839" y="26974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39" y="2697480"/>
            <a:ext cx="219456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59" y="2697480"/>
            <a:ext cx="100584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กรอกคำขอ</a:t>
            </a:r>
          </a:p>
        </p:txBody>
      </p:sp>
      <p:sp>
        <p:nvSpPr>
          <p:cNvPr id="24" name="Oval 23"/>
          <p:cNvSpPr/>
          <p:nvPr/>
        </p:nvSpPr>
        <p:spPr>
          <a:xfrm>
            <a:off x="3474720" y="26974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697480"/>
            <a:ext cx="219456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2697480"/>
            <a:ext cx="100584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รอผลอนุมัติ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044951"/>
            <a:ext cx="178308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ห้องหรืออุปกรณ์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" y="3255264"/>
            <a:ext cx="1783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1" y="3255264"/>
            <a:ext cx="1691639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 401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044951"/>
            <a:ext cx="182880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วันที่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255264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16352" y="3255264"/>
            <a:ext cx="173736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10 ต.ค. 2569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3593592"/>
            <a:ext cx="86868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เริ่ม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59" y="3803904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1" y="3803904"/>
            <a:ext cx="77724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09:00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3593592"/>
            <a:ext cx="82296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สิ้นสุด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83080" y="3803904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56232" y="3803904"/>
            <a:ext cx="73152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12:00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593592"/>
            <a:ext cx="1828800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จำนวนผู้เข้าร่วม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803904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3803904"/>
            <a:ext cx="173736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40 คน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" y="4142232"/>
            <a:ext cx="3749039" cy="20116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วัตถุประสงค์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59" y="4352543"/>
            <a:ext cx="3749039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352543"/>
            <a:ext cx="3657600" cy="3200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ประชุมชมรม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3063240"/>
            <a:ext cx="2240280" cy="1783080"/>
          </a:xfrm>
          <a:prstGeom prst="roundRect">
            <a:avLst>
              <a:gd name="adj" fmla="val 4102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83479" y="3136392"/>
            <a:ext cx="201168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ผลการตรวจสถานะว่าง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83479" y="3493008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83479" y="3493008"/>
            <a:ext cx="54864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ว่าง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59" y="3493008"/>
            <a:ext cx="1371600" cy="21945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ห้อง 401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79" y="3767328"/>
            <a:ext cx="2011680" cy="2286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10 ต.ค. 2569 เวลา 09:00-12:00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83479" y="4069080"/>
            <a:ext cx="201168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ถ้าแก้ห้อง วัน หรือเวลา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ระบบจะตรวจให้ใหม่ทันที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74920" y="5120640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4920" y="5120640"/>
            <a:ext cx="91440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ยกเลิก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26479" y="5120640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79" y="5120640"/>
            <a:ext cx="96012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9808" y="2624328"/>
            <a:ext cx="3886200" cy="36576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1792" y="249631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249631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9808" y="3008376"/>
            <a:ext cx="3904487" cy="1097280"/>
          </a:xfrm>
          <a:prstGeom prst="roundRect">
            <a:avLst>
              <a:gd name="adj" fmla="val 6666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1792" y="2880360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2880360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73168" y="2990088"/>
            <a:ext cx="2386584" cy="1929384"/>
          </a:xfrm>
          <a:prstGeom prst="roundRect">
            <a:avLst>
              <a:gd name="adj" fmla="val 3791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645152" y="286207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45152" y="286207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0960" y="1920240"/>
            <a:ext cx="3962095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ใครใช้เป็นหลัก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80960" y="2194560"/>
            <a:ext cx="3962095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นิสิตและอาจารย์</a:t>
            </a:r>
          </a:p>
        </p:txBody>
      </p:sp>
      <p:sp>
        <p:nvSpPr>
          <p:cNvPr id="67" name="Oval 66"/>
          <p:cNvSpPr/>
          <p:nvPr/>
        </p:nvSpPr>
        <p:spPr>
          <a:xfrm>
            <a:off x="7680960" y="286207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80960" y="286207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2440" y="283464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เห็นว่าคำขออยู่ขั้นไหน ตั้งแต่ส่งจนได้ผล</a:t>
            </a:r>
          </a:p>
        </p:txBody>
      </p:sp>
      <p:sp>
        <p:nvSpPr>
          <p:cNvPr id="70" name="Oval 69"/>
          <p:cNvSpPr/>
          <p:nvPr/>
        </p:nvSpPr>
        <p:spPr>
          <a:xfrm>
            <a:off x="7680960" y="368503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80960" y="368503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2440" y="365760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แก้ห้อง วัน และเวลาได้ ไม่ต้องค้นหาใหม่</a:t>
            </a:r>
          </a:p>
        </p:txBody>
      </p:sp>
      <p:sp>
        <p:nvSpPr>
          <p:cNvPr id="73" name="Oval 72"/>
          <p:cNvSpPr/>
          <p:nvPr/>
        </p:nvSpPr>
        <p:spPr>
          <a:xfrm>
            <a:off x="7680960" y="450799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80960" y="450799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2440" y="448056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ตรวจสถานะว่างใหม่ทุกครั้งที่แก้ กันจองชนกับตารางเรียน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 ทางออก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67160178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โครงหน้าจอ 3/4 · หน้าตรวจสอบสถานะ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76656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76656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ระบบจองห้องและอุปกรณ์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86868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ออกจากระบบ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1828800"/>
            <a:ext cx="173736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ยืม-คืน/เช็กอิน-เช็กเอาต์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1892808"/>
            <a:ext cx="1051560" cy="237744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828800"/>
            <a:ext cx="105156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ตรวจสอบสถานะ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1" y="1828800"/>
            <a:ext cx="54864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286000"/>
            <a:ext cx="2743200" cy="3200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ตรวจสอบสถานะคำขอ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" y="2670048"/>
            <a:ext cx="841248" cy="256032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2670048"/>
            <a:ext cx="841248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ทั้งหมด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37360" y="2670048"/>
            <a:ext cx="841248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2670048"/>
            <a:ext cx="841248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รออนุมัติ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2670048"/>
            <a:ext cx="841248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2670048"/>
            <a:ext cx="841248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อนุมัติแล้ว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2670048"/>
            <a:ext cx="841248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2670048"/>
            <a:ext cx="841248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ปฏิเสธ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822959" y="3063240"/>
          <a:ext cx="62179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188720"/>
                <a:gridCol w="1371600"/>
                <a:gridCol w="1737360"/>
                <a:gridCol w="1188720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เลขที่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ผู้จอง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ห้องหรืออุปกรณ์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วันเวลา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สถานะ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0124</a:t>
                      </a:r>
                    </a:p>
                  </a:txBody>
                  <a:tcPr marL="91440" marR="91440" marT="18288" marB="18288"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นิสิต ก.</a:t>
                      </a:r>
                    </a:p>
                  </a:txBody>
                  <a:tcPr marL="91440" marR="91440" marT="18288" marB="18288"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 401</a:t>
                      </a:r>
                    </a:p>
                  </a:txBody>
                  <a:tcPr marL="91440" marR="91440" marT="18288" marB="18288"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 ต.ค. 09:00-12:00</a:t>
                      </a:r>
                    </a:p>
                  </a:txBody>
                  <a:tcPr marL="91440" marR="91440" marT="18288" marB="18288" anchor="ctr"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รออนุมัติ</a:t>
                      </a:r>
                    </a:p>
                  </a:txBody>
                  <a:tcPr marL="91440" marR="91440" marT="18288" marB="18288" anchor="ctr">
                    <a:solidFill>
                      <a:srgbClr val="EBF1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อาจารย์ ข.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โพรเจกเตอร์ 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 ต.ค. 13:00-16:00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อนุมัติแล้ว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เจ้าหน้าที่ ค.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ห้องประชุม 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11 ต.ค. 09:00-11:00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อนุมัติแล้ว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822959" y="4389120"/>
            <a:ext cx="6217920" cy="1051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434840"/>
            <a:ext cx="365760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รายละเอียดคำขอ 0124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663440"/>
            <a:ext cx="4114800" cy="2286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วัตถุประสงค์: ประชุมชมรม · 40 คน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4956048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" y="4956048"/>
            <a:ext cx="3749039" cy="34747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เหตุผล (ต้องกรอกเมื่อปฏิเสธ)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79" y="4992624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79" y="4992624"/>
            <a:ext cx="91440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ปฏิเสธ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4992624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4992624"/>
            <a:ext cx="914400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อนุมัติ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2606040"/>
            <a:ext cx="3749039" cy="384048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1792" y="2478024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2478024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8" y="3008376"/>
            <a:ext cx="6364224" cy="1261872"/>
          </a:xfrm>
          <a:prstGeom prst="roundRect">
            <a:avLst>
              <a:gd name="adj" fmla="val 5797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1792" y="2880360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2880360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6968" y="4901184"/>
            <a:ext cx="6108192" cy="45720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8952" y="4773168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" y="4773168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1920240"/>
            <a:ext cx="3962095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ใครใช้เป็นหลัก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2194560"/>
            <a:ext cx="3962095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</p:txBody>
      </p:sp>
      <p:sp>
        <p:nvSpPr>
          <p:cNvPr id="48" name="Oval 47"/>
          <p:cNvSpPr/>
          <p:nvPr/>
        </p:nvSpPr>
        <p:spPr>
          <a:xfrm>
            <a:off x="7680960" y="286207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286207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283464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กรองตามสถานะ หาคำขอที่ต้องพิจารณาได้เร็ว</a:t>
            </a:r>
          </a:p>
        </p:txBody>
      </p:sp>
      <p:sp>
        <p:nvSpPr>
          <p:cNvPr id="51" name="Oval 50"/>
          <p:cNvSpPr/>
          <p:nvPr/>
        </p:nvSpPr>
        <p:spPr>
          <a:xfrm>
            <a:off x="7680960" y="368503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368503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365760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ทุกคำขอรวมอยู่ในตารางเดียว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ไม่ต้องไล่ดูหลายช่องทาง</a:t>
            </a:r>
          </a:p>
        </p:txBody>
      </p:sp>
      <p:sp>
        <p:nvSpPr>
          <p:cNvPr id="54" name="Oval 53"/>
          <p:cNvSpPr/>
          <p:nvPr/>
        </p:nvSpPr>
        <p:spPr>
          <a:xfrm>
            <a:off x="7680960" y="450799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0" y="450799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2440" y="448056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ปฏิเสธต้องใส่เหตุผล ผู้ขอรู้ว่าต้องแก้อะไร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 ทางออก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67160178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โครงหน้าจอ 4/4 · หน้าบันทึกยืม-คืน/เช็กอิน-เช็กเอาต์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76656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76656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ระบบจองห้องและอุปกรณ์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86868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ออกจากระบบ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1144" y="1892808"/>
            <a:ext cx="1737360" cy="237744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828800"/>
            <a:ext cx="173736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ยืม-คืน/เช็กอิน-เช็กเอาต์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828800"/>
            <a:ext cx="105156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ตรวจสอบสถานะ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1" y="1828800"/>
            <a:ext cx="548640" cy="3657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286000"/>
            <a:ext cx="3657600" cy="3200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บันทึกการยืม-คืน/เช็กอิน-เช็กเอาต์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" y="2670048"/>
            <a:ext cx="731520" cy="256032"/>
          </a:xfrm>
          <a:prstGeom prst="roundRect">
            <a:avLst>
              <a:gd name="adj" fmla="val 12000"/>
            </a:avLst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2670048"/>
            <a:ext cx="73152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ทั้งหมด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27631" y="2670048"/>
            <a:ext cx="109728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1" y="2670048"/>
            <a:ext cx="109728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รอยืม/เช็กอิน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98063" y="2670048"/>
            <a:ext cx="82296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8063" y="2670048"/>
            <a:ext cx="82296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กำลังใช้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94175" y="2670048"/>
            <a:ext cx="91440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94175" y="2670048"/>
            <a:ext cx="91440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เกินกำหนด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1727" y="2670048"/>
            <a:ext cx="146304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7" y="2670048"/>
            <a:ext cx="1463040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74151"/>
                </a:solidFill>
                <a:latin typeface="Leelawadee UI"/>
                <a:ea typeface="Leelawadee UI"/>
                <a:cs typeface="Leelawadee UI"/>
              </a:rPr>
              <a:t>คืน/เช็กเอาต์แล้ว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22959" y="3063240"/>
          <a:ext cx="62179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777240"/>
                <a:gridCol w="1005840"/>
                <a:gridCol w="914400"/>
                <a:gridCol w="914400"/>
                <a:gridCol w="960120"/>
                <a:gridCol w="1188720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เลขที่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ผู้จอง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ห้องหรืออุปกรณ์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กำหนดสิ้นสุด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ยืม/เช็กอิน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คืน/เช็กเอาต์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74151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สถานะ</a:t>
                      </a:r>
                    </a:p>
                  </a:txBody>
                  <a:tcPr marL="91440" marR="91440" marT="18288" marB="18288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0128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นิสิต จ.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กล้องถ่ายวิดีโอ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11 ต.ค. 12:00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รอยืม/เช็กอิน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เจ้าหน้าที่ ค.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ห้องประชุม 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11 ต.ค. 11:00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รอยืม/เช็กอิน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อาจารย์ ข.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โพรเจกเตอร์ 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 ต.ค. 16:00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 ต.ค. 13:00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กำลังใช้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0127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นิสิต ง.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ไมโครโฟน 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 ต.ค. 12:00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 ต.ค. 09:05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เกินกำหนด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อาจารย์ ช.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 402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ต.ค. 12:00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ต.ค. 08:55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ต.ค. 12:00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คืน/เช็กเอาต์แล้ว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0121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นิสิต ฉ.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โพรเจกเตอร์ 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ต.ค. 16:00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ต.ค. 13:00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ต.ค. 15:40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คืน/เช็กเอาต์แล้ว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0119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นิสิต ซ.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ห้องประชุม 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 ต.ค. 16:00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 ต.ค. 13:10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 ต.ค. 15:50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คืน/เช็กเอาต์แล้ว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49808" y="2606040"/>
            <a:ext cx="5468112" cy="384048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1792" y="2478024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2478024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3008376"/>
            <a:ext cx="3182112" cy="2450592"/>
          </a:xfrm>
          <a:prstGeom prst="roundRect">
            <a:avLst>
              <a:gd name="adj" fmla="val 2985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1792" y="2880360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2880360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05072" y="3008376"/>
            <a:ext cx="3108960" cy="2450592"/>
          </a:xfrm>
          <a:prstGeom prst="roundRect">
            <a:avLst>
              <a:gd name="adj" fmla="val 2985"/>
            </a:avLst>
          </a:prstGeom>
          <a:noFill/>
          <a:ln w="22225">
            <a:solidFill>
              <a:srgbClr val="E5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77056" y="2880360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77056" y="2880360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1920240"/>
            <a:ext cx="3962095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ใครใช้เป็นหลัก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194560"/>
            <a:ext cx="3962095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</p:txBody>
      </p:sp>
      <p:sp>
        <p:nvSpPr>
          <p:cNvPr id="41" name="Oval 40"/>
          <p:cNvSpPr/>
          <p:nvPr/>
        </p:nvSpPr>
        <p:spPr>
          <a:xfrm>
            <a:off x="7680960" y="286207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286207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283464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แยกตามสถานะ เห็นว่าอยู่ขั้นไหน</a:t>
            </a:r>
          </a:p>
        </p:txBody>
      </p:sp>
      <p:sp>
        <p:nvSpPr>
          <p:cNvPr id="44" name="Oval 43"/>
          <p:cNvSpPr/>
          <p:nvPr/>
        </p:nvSpPr>
        <p:spPr>
          <a:xfrm>
            <a:off x="7680960" y="368503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368503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365760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เห็นผู้จองและกำหนดสิ้นสุดของทุกรายการ</a:t>
            </a:r>
          </a:p>
        </p:txBody>
      </p:sp>
      <p:sp>
        <p:nvSpPr>
          <p:cNvPr id="47" name="Oval 46"/>
          <p:cNvSpPr/>
          <p:nvPr/>
        </p:nvSpPr>
        <p:spPr>
          <a:xfrm>
            <a:off x="7680960" y="4507992"/>
            <a:ext cx="256032" cy="256032"/>
          </a:xfrm>
          <a:prstGeom prst="ellipse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0" y="4507992"/>
            <a:ext cx="256032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4480560"/>
            <a:ext cx="3550615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เห็นเวลายืมหรือเช็กอิน และคืนหรือเช็กเอาต์ ของทุกรายการ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02 ทางออก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ผังงาน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99240" y="2651760"/>
            <a:ext cx="801586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56858" y="2651760"/>
            <a:ext cx="737578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36852" y="2651760"/>
            <a:ext cx="27123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96806" y="2651760"/>
            <a:ext cx="152362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29328" y="2651760"/>
            <a:ext cx="22551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83608" y="2395728"/>
            <a:ext cx="4572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ใช่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97258" y="2651760"/>
            <a:ext cx="27123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57212" y="2651760"/>
            <a:ext cx="27123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789248" y="1874520"/>
            <a:ext cx="0" cy="36576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923654" y="1874520"/>
            <a:ext cx="86559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3256" y="2002536"/>
            <a:ext cx="4572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ไม่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628842" y="1874520"/>
            <a:ext cx="2252396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28842" y="1874520"/>
            <a:ext cx="0" cy="649224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49654" y="2971799"/>
            <a:ext cx="0" cy="320041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084060" y="3703320"/>
            <a:ext cx="22551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99846" y="3429000"/>
            <a:ext cx="4572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ใช่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816130" y="3703320"/>
            <a:ext cx="225514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383608" y="3703320"/>
            <a:ext cx="152362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26242" y="3319272"/>
            <a:ext cx="4572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ใช่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756858" y="3703320"/>
            <a:ext cx="343803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176050" y="4114800"/>
            <a:ext cx="0" cy="18288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40058" y="4114800"/>
            <a:ext cx="4572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ไม่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4143660" y="4617720"/>
            <a:ext cx="343803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628842" y="4617720"/>
            <a:ext cx="1258786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628842" y="3831336"/>
            <a:ext cx="0" cy="786384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699240" y="3703320"/>
            <a:ext cx="801586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949654" y="4114800"/>
            <a:ext cx="0" cy="18288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013662" y="4114800"/>
            <a:ext cx="4572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ไม่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949654" y="4937760"/>
            <a:ext cx="0" cy="18288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015644" y="5120640"/>
            <a:ext cx="693401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015644" y="4745736"/>
            <a:ext cx="0" cy="374904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rminator 40"/>
          <p:cNvSpPr/>
          <p:nvPr/>
        </p:nvSpPr>
        <p:spPr>
          <a:xfrm>
            <a:off x="784840" y="2423160"/>
            <a:ext cx="914400" cy="457200"/>
          </a:xfrm>
          <a:prstGeom prst="flowChartTerminator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4840" y="2423160"/>
            <a:ext cx="914400" cy="4572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เริ่ม</a:t>
            </a:r>
          </a:p>
        </p:txBody>
      </p:sp>
      <p:sp>
        <p:nvSpPr>
          <p:cNvPr id="43" name="Oval 42"/>
          <p:cNvSpPr/>
          <p:nvPr/>
        </p:nvSpPr>
        <p:spPr>
          <a:xfrm>
            <a:off x="2500826" y="252374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ata 43"/>
          <p:cNvSpPr/>
          <p:nvPr/>
        </p:nvSpPr>
        <p:spPr>
          <a:xfrm>
            <a:off x="3421284" y="2331720"/>
            <a:ext cx="1188720" cy="640080"/>
          </a:xfrm>
          <a:prstGeom prst="flowChartInputOutput">
            <a:avLst/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58444" y="2331720"/>
            <a:ext cx="91440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รับเงื่อนไข</a:t>
            </a:r>
          </a:p>
          <a:p>
            <a:pPr algn="ctr">
              <a:spcBef>
                <a:spcPts val="0"/>
              </a:spcBef>
            </a:pPr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8086" y="2331720"/>
            <a:ext cx="1188720" cy="64008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35518" y="2331720"/>
            <a:ext cx="1133856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ตรวจสถานะว่าง</a:t>
            </a:r>
          </a:p>
        </p:txBody>
      </p:sp>
      <p:sp>
        <p:nvSpPr>
          <p:cNvPr id="48" name="Diamond 47"/>
          <p:cNvSpPr/>
          <p:nvPr/>
        </p:nvSpPr>
        <p:spPr>
          <a:xfrm>
            <a:off x="6149168" y="2240280"/>
            <a:ext cx="1280160" cy="822960"/>
          </a:xfrm>
          <a:prstGeom prst="diamond">
            <a:avLst/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6328" y="2240280"/>
            <a:ext cx="1005840" cy="8229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ว่างไหม?</a:t>
            </a:r>
          </a:p>
        </p:txBody>
      </p:sp>
      <p:sp>
        <p:nvSpPr>
          <p:cNvPr id="50" name="Data 49"/>
          <p:cNvSpPr/>
          <p:nvPr/>
        </p:nvSpPr>
        <p:spPr>
          <a:xfrm>
            <a:off x="7581690" y="2331720"/>
            <a:ext cx="1188720" cy="640080"/>
          </a:xfrm>
          <a:prstGeom prst="flowChartInputOutput">
            <a:avLst/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18850" y="2331720"/>
            <a:ext cx="91440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รับคำขอจอง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8492" y="2331720"/>
            <a:ext cx="1188720" cy="64008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95924" y="2331720"/>
            <a:ext cx="1133856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บันทึกคำขอ</a:t>
            </a:r>
          </a:p>
        </p:txBody>
      </p:sp>
      <p:sp>
        <p:nvSpPr>
          <p:cNvPr id="54" name="Data 53"/>
          <p:cNvSpPr/>
          <p:nvPr/>
        </p:nvSpPr>
        <p:spPr>
          <a:xfrm>
            <a:off x="10355294" y="2331720"/>
            <a:ext cx="1188720" cy="640080"/>
          </a:xfrm>
          <a:prstGeom prst="flowChartInputOutput">
            <a:avLst/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92454" y="2331720"/>
            <a:ext cx="91440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แจ้ง</a:t>
            </a:r>
          </a:p>
          <a:p>
            <a:pPr algn="ctr">
              <a:spcBef>
                <a:spcPts val="0"/>
              </a:spcBef>
            </a:pPr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</p:txBody>
      </p:sp>
      <p:sp>
        <p:nvSpPr>
          <p:cNvPr id="56" name="Data 55"/>
          <p:cNvSpPr/>
          <p:nvPr/>
        </p:nvSpPr>
        <p:spPr>
          <a:xfrm>
            <a:off x="4808086" y="1554480"/>
            <a:ext cx="1188720" cy="640080"/>
          </a:xfrm>
          <a:prstGeom prst="flowChartInputOutput">
            <a:avLst/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45246" y="1554480"/>
            <a:ext cx="91440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แสดง</a:t>
            </a:r>
          </a:p>
          <a:p>
            <a:pPr algn="ctr">
              <a:spcBef>
                <a:spcPts val="0"/>
              </a:spcBef>
            </a:pPr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ทางเลือก</a:t>
            </a:r>
          </a:p>
        </p:txBody>
      </p:sp>
      <p:sp>
        <p:nvSpPr>
          <p:cNvPr id="58" name="Diamond 57"/>
          <p:cNvSpPr/>
          <p:nvPr/>
        </p:nvSpPr>
        <p:spPr>
          <a:xfrm>
            <a:off x="10309574" y="3291840"/>
            <a:ext cx="1280160" cy="822960"/>
          </a:xfrm>
          <a:prstGeom prst="diamond">
            <a:avLst/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46734" y="3291840"/>
            <a:ext cx="1005840" cy="8229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อนุมัติ?</a:t>
            </a:r>
          </a:p>
        </p:txBody>
      </p:sp>
      <p:sp>
        <p:nvSpPr>
          <p:cNvPr id="60" name="Data 59"/>
          <p:cNvSpPr/>
          <p:nvPr/>
        </p:nvSpPr>
        <p:spPr>
          <a:xfrm>
            <a:off x="8968492" y="3383280"/>
            <a:ext cx="1188720" cy="640080"/>
          </a:xfrm>
          <a:prstGeom prst="flowChartInputOutput">
            <a:avLst/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05652" y="3383280"/>
            <a:ext cx="91440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แจ้งผล</a:t>
            </a:r>
          </a:p>
          <a:p>
            <a:pPr algn="ctr">
              <a:spcBef>
                <a:spcPts val="0"/>
              </a:spcBef>
            </a:pPr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การจอง</a:t>
            </a:r>
          </a:p>
        </p:txBody>
      </p:sp>
      <p:sp>
        <p:nvSpPr>
          <p:cNvPr id="62" name="Diamond 61"/>
          <p:cNvSpPr/>
          <p:nvPr/>
        </p:nvSpPr>
        <p:spPr>
          <a:xfrm>
            <a:off x="7535970" y="3291840"/>
            <a:ext cx="1280160" cy="822960"/>
          </a:xfrm>
          <a:prstGeom prst="diamond">
            <a:avLst/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73130" y="3291840"/>
            <a:ext cx="1005840" cy="82296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เป็นอุปกรณ์</a:t>
            </a:r>
          </a:p>
          <a:p>
            <a:pPr algn="ctr">
              <a:spcBef>
                <a:spcPts val="0"/>
              </a:spcBef>
            </a:pPr>
            <a:r>
              <a:rPr sz="10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ไหม?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94888" y="3383280"/>
            <a:ext cx="1188720" cy="64008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3176" y="3383280"/>
            <a:ext cx="1152144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บันทึกการยืม</a:t>
            </a:r>
          </a:p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และคืน</a:t>
            </a:r>
          </a:p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ผ่านเจ้าหน้าที่</a:t>
            </a:r>
          </a:p>
        </p:txBody>
      </p:sp>
      <p:sp>
        <p:nvSpPr>
          <p:cNvPr id="66" name="Oval 65"/>
          <p:cNvSpPr/>
          <p:nvPr/>
        </p:nvSpPr>
        <p:spPr>
          <a:xfrm>
            <a:off x="2500826" y="357530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rminator 66"/>
          <p:cNvSpPr/>
          <p:nvPr/>
        </p:nvSpPr>
        <p:spPr>
          <a:xfrm>
            <a:off x="784840" y="3474720"/>
            <a:ext cx="914400" cy="457200"/>
          </a:xfrm>
          <a:prstGeom prst="flowChartTerminator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4840" y="3474720"/>
            <a:ext cx="914400" cy="4572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จบ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1690" y="4297680"/>
            <a:ext cx="1188720" cy="64008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09122" y="4297680"/>
            <a:ext cx="1133856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บันทึกเช็กอิน</a:t>
            </a:r>
          </a:p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และเช็กเอาต์</a:t>
            </a:r>
          </a:p>
        </p:txBody>
      </p:sp>
      <p:sp>
        <p:nvSpPr>
          <p:cNvPr id="71" name="Data 70"/>
          <p:cNvSpPr/>
          <p:nvPr/>
        </p:nvSpPr>
        <p:spPr>
          <a:xfrm>
            <a:off x="10355294" y="4297680"/>
            <a:ext cx="1188720" cy="640080"/>
          </a:xfrm>
          <a:prstGeom prst="flowChartInputOutput">
            <a:avLst/>
          </a:prstGeom>
          <a:solidFill>
            <a:srgbClr val="EBF1FA"/>
          </a:solidFill>
          <a:ln w="1270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92454" y="4297680"/>
            <a:ext cx="914400" cy="64008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แจ้งเหตุผล</a:t>
            </a:r>
          </a:p>
          <a:p>
            <a:pPr algn="ctr">
              <a:spcBef>
                <a:spcPts val="0"/>
              </a:spcBef>
            </a:pPr>
            <a:r>
              <a:rPr sz="11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ที่ปฏิเสธ</a:t>
            </a:r>
          </a:p>
        </p:txBody>
      </p:sp>
      <p:sp>
        <p:nvSpPr>
          <p:cNvPr id="73" name="Oval 72"/>
          <p:cNvSpPr/>
          <p:nvPr/>
        </p:nvSpPr>
        <p:spPr>
          <a:xfrm>
            <a:off x="3887628" y="448970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03 ความต้องการ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67160193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สิ่งที่ระบบช่วยได้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7396276" cy="3200400"/>
          </a:xfrm>
          <a:prstGeom prst="roundRect">
            <a:avLst>
              <a:gd name="adj" fmla="val 2285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46778" y="1920240"/>
            <a:ext cx="7396276" cy="3200400"/>
          </a:xfrm>
          <a:prstGeom prst="roundRect">
            <a:avLst>
              <a:gd name="adj" fmla="val 2285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6778" y="1920240"/>
            <a:ext cx="3698138" cy="3200400"/>
          </a:xfrm>
          <a:prstGeom prst="rect">
            <a:avLst/>
          </a:prstGeom>
          <a:solidFill>
            <a:srgbClr val="C9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03120"/>
            <a:ext cx="3058058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นิสิตและอาจารย์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97480"/>
            <a:ext cx="3240938" cy="384048"/>
          </a:xfrm>
          <a:prstGeom prst="roundRect">
            <a:avLst>
              <a:gd name="adj" fmla="val 12000"/>
            </a:avLst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974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เห็นสถานะว่างทันที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546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ค้นหาตามเงื่อนไข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118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ส่งคำขอออนไลน์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ติดตามสถานะคำขอ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แก้ไขหรือยกเลิกได้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6818" y="2103120"/>
            <a:ext cx="3058058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ทั้งสองฝ่าย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75378" y="2697480"/>
            <a:ext cx="3240938" cy="384048"/>
          </a:xfrm>
          <a:prstGeom prst="roundRect">
            <a:avLst>
              <a:gd name="adj" fmla="val 12000"/>
            </a:avLst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6818" y="26974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ตรวจการชนอัตโนมัติ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6818" y="31546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อนุมัติพร้อมเหตุผล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6818" y="36118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แจ้งเตือนอัตโนมัติ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4956" y="2103120"/>
            <a:ext cx="3058058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3516" y="2697480"/>
            <a:ext cx="3240938" cy="384048"/>
          </a:xfrm>
          <a:prstGeom prst="roundRect">
            <a:avLst>
              <a:gd name="adj" fmla="val 12000"/>
            </a:avLst>
          </a:prstGeom>
          <a:solidFill>
            <a:srgbClr val="FFF4CC"/>
          </a:solidFill>
          <a:ln w="12700">
            <a:solidFill>
              <a:srgbClr val="FDCD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4956" y="26974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ดึงข้อมูลการใช้งานได้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4956" y="31546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บันทึกยืม-คืน/เช็กอิน-เช็กเอาต์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36118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จัดการห้องและอุปกรณ์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4069080"/>
            <a:ext cx="324093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บันทึกประวัติทุกครั้ง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868680"/>
            <a:ext cx="64008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04 สรุป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67160193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ขั้นต่อไป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332378" cy="2148840"/>
          </a:xfrm>
          <a:prstGeom prst="roundRect">
            <a:avLst>
              <a:gd name="adj" fmla="val 3404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148840"/>
            <a:ext cx="278373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สิ่งที่มีแล้ว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43200"/>
            <a:ext cx="278373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ปัญหา และผู้ใช้ระบบหลัก</a:t>
            </a:r>
          </a:p>
          <a:p>
            <a:pPr algn="l" marL="256032" indent="-256032">
              <a:spcBef>
                <a:spcPts val="10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สิ่งที่ระบบต้องทำ</a:t>
            </a:r>
          </a:p>
          <a:p>
            <a:pPr algn="l" marL="256032" indent="-256032">
              <a:spcBef>
                <a:spcPts val="10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ผังงาน และโครงหน้าจอ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1018" y="1920240"/>
            <a:ext cx="548640" cy="21488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9658" y="1920240"/>
            <a:ext cx="3332378" cy="2148840"/>
          </a:xfrm>
          <a:prstGeom prst="roundRect">
            <a:avLst>
              <a:gd name="adj" fmla="val 3404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3978" y="2148840"/>
            <a:ext cx="278373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62828"/>
                </a:solidFill>
                <a:latin typeface="Leelawadee UI"/>
                <a:ea typeface="Leelawadee UI"/>
                <a:cs typeface="Leelawadee UI"/>
              </a:rPr>
              <a:t>คำถามที่ยังตอบไม่ได้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3978" y="2743200"/>
            <a:ext cx="278373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ปัญหาเกิดบ่อยแค่ไหน</a:t>
            </a:r>
          </a:p>
          <a:p>
            <a:pPr algn="l" marL="256032" indent="-256032">
              <a:spcBef>
                <a:spcPts val="10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เจ้าหน้าที่เสียเวลาเท่าไร</a:t>
            </a:r>
          </a:p>
          <a:p>
            <a:pPr algn="l" marL="256032" indent="-256032">
              <a:spcBef>
                <a:spcPts val="10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สำเร็จวัดจากอะไร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2036" y="1920240"/>
            <a:ext cx="548640" cy="21488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10676" y="1920240"/>
            <a:ext cx="3332378" cy="2148840"/>
          </a:xfrm>
          <a:prstGeom prst="roundRect">
            <a:avLst>
              <a:gd name="adj" fmla="val 3404"/>
            </a:avLst>
          </a:prstGeom>
          <a:solidFill>
            <a:srgbClr val="FFF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4996" y="2148840"/>
            <a:ext cx="278373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สิ่งที่ต้องไปเก็บต่อ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4996" y="2743200"/>
            <a:ext cx="278373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จำนวนคำขอ และครั้งที่จองชน</a:t>
            </a:r>
          </a:p>
          <a:p>
            <a:pPr algn="l" marL="256032" indent="-256032">
              <a:spcBef>
                <a:spcPts val="10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เวลาที่ใช้ต่อหนึ่งคำขอ</a:t>
            </a:r>
          </a:p>
          <a:p>
            <a:pPr algn="l" marL="256032" indent="-256032">
              <a:spcBef>
                <a:spcPts val="1000"/>
              </a:spcBef>
              <a:buChar char="•"/>
            </a:pPr>
            <a:r>
              <a:rPr sz="17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ตัวเลขเป้าหมายจากผู้บริหาร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04AAD"/>
          </a:solidFill>
          <a:ln>
            <a:noFill/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48640" cy="548640"/>
          </a:xfrm>
          <a:prstGeom prst="rect">
            <a:avLst/>
          </a:prstGeom>
          <a:effectLst/>
        </p:spPr>
      </p:pic>
      <p:pic>
        <p:nvPicPr>
          <p:cNvPr id="4" name="Picture 3" descr="logo-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09728"/>
            <a:ext cx="548640" cy="54864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0"/>
            <a:ext cx="6705295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88732065 Business Process 2569-1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9895" y="0"/>
            <a:ext cx="2743200" cy="7680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กลุ่มที่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67160193</a:t>
            </a:r>
          </a:p>
        </p:txBody>
      </p:sp>
      <p:pic>
        <p:nvPicPr>
          <p:cNvPr id="8" name="pin" descr="deco-cor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0" y="2743200"/>
            <a:ext cx="3870655" cy="4997752"/>
          </a:xfrm>
          <a:prstGeom prst="rect">
            <a:avLst/>
          </a:prstGeom>
          <a:effectLst/>
        </p:spPr>
      </p:pic>
      <p:pic>
        <p:nvPicPr>
          <p:cNvPr id="9" name="pin" descr="deco-cor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743200"/>
            <a:ext cx="3870655" cy="4997752"/>
          </a:xfrm>
          <a:prstGeom prst="rect">
            <a:avLst/>
          </a:prstGeom>
          <a:effectLst/>
        </p:spPr>
      </p:pic>
      <p:sp>
        <p:nvSpPr>
          <p:cNvPr id="10" name="pin"/>
          <p:cNvSpPr txBox="1"/>
          <p:nvPr/>
        </p:nvSpPr>
        <p:spPr>
          <a:xfrm>
            <a:off x="548640" y="2697480"/>
            <a:ext cx="11094415" cy="146304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ขอบคุณที่รับชม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9855" y="868680"/>
            <a:ext cx="27432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004AAD"/>
                </a:solidFill>
                <a:latin typeface="Leelawadee UI"/>
                <a:ea typeface="Leelawadee UI"/>
                <a:cs typeface="Leelawadee UI"/>
              </a:rPr>
              <a:t>หน้า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